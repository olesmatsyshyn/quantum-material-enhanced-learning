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2" r:id="rId4"/>
    <p:sldId id="265" r:id="rId5"/>
    <p:sldId id="266" r:id="rId6"/>
    <p:sldId id="257" r:id="rId7"/>
    <p:sldId id="258" r:id="rId8"/>
    <p:sldId id="260" r:id="rId9"/>
    <p:sldId id="259" r:id="rId10"/>
    <p:sldId id="263" r:id="rId11"/>
    <p:sldId id="264" r:id="rId12"/>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14" autoAdjust="0"/>
    <p:restoredTop sz="94660"/>
  </p:normalViewPr>
  <p:slideViewPr>
    <p:cSldViewPr snapToGrid="0">
      <p:cViewPr varScale="1">
        <p:scale>
          <a:sx n="73" d="100"/>
          <a:sy n="73" d="100"/>
        </p:scale>
        <p:origin x="1035" y="5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96347-4A26-15B8-7E7C-05D61F6B3E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C1A405D0-9677-8831-A1C4-D2AEA33BC1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99A8C107-B04F-BC89-E295-80AD6C50E820}"/>
              </a:ext>
            </a:extLst>
          </p:cNvPr>
          <p:cNvSpPr>
            <a:spLocks noGrp="1"/>
          </p:cNvSpPr>
          <p:nvPr>
            <p:ph type="dt" sz="half" idx="10"/>
          </p:nvPr>
        </p:nvSpPr>
        <p:spPr/>
        <p:txBody>
          <a:bodyPr/>
          <a:lstStyle/>
          <a:p>
            <a:fld id="{B5950F1E-E020-4639-BB31-D55734BD1DC5}" type="datetimeFigureOut">
              <a:rPr lang="LID4096" smtClean="0"/>
              <a:t>04/21/2026</a:t>
            </a:fld>
            <a:endParaRPr lang="LID4096"/>
          </a:p>
        </p:txBody>
      </p:sp>
      <p:sp>
        <p:nvSpPr>
          <p:cNvPr id="5" name="Footer Placeholder 4">
            <a:extLst>
              <a:ext uri="{FF2B5EF4-FFF2-40B4-BE49-F238E27FC236}">
                <a16:creationId xmlns:a16="http://schemas.microsoft.com/office/drawing/2014/main" id="{04628785-8D36-275B-2E68-0D98F8A2A4EF}"/>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D868AE05-F16B-2EAF-83C1-BCB7B81019A1}"/>
              </a:ext>
            </a:extLst>
          </p:cNvPr>
          <p:cNvSpPr>
            <a:spLocks noGrp="1"/>
          </p:cNvSpPr>
          <p:nvPr>
            <p:ph type="sldNum" sz="quarter" idx="12"/>
          </p:nvPr>
        </p:nvSpPr>
        <p:spPr/>
        <p:txBody>
          <a:bodyPr/>
          <a:lstStyle/>
          <a:p>
            <a:fld id="{81AA0B9B-59F8-4A18-B859-EA8C70225C5F}" type="slidenum">
              <a:rPr lang="LID4096" smtClean="0"/>
              <a:t>‹#›</a:t>
            </a:fld>
            <a:endParaRPr lang="LID4096"/>
          </a:p>
        </p:txBody>
      </p:sp>
    </p:spTree>
    <p:extLst>
      <p:ext uri="{BB962C8B-B14F-4D97-AF65-F5344CB8AC3E}">
        <p14:creationId xmlns:p14="http://schemas.microsoft.com/office/powerpoint/2010/main" val="3704504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99209-FBF5-2983-E15D-2BC4735B9ADB}"/>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59ADF709-44D5-F4DB-28CE-5DB5523F60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8E96D38F-34C4-9553-D1DD-2A5BC6CA712A}"/>
              </a:ext>
            </a:extLst>
          </p:cNvPr>
          <p:cNvSpPr>
            <a:spLocks noGrp="1"/>
          </p:cNvSpPr>
          <p:nvPr>
            <p:ph type="dt" sz="half" idx="10"/>
          </p:nvPr>
        </p:nvSpPr>
        <p:spPr/>
        <p:txBody>
          <a:bodyPr/>
          <a:lstStyle/>
          <a:p>
            <a:fld id="{B5950F1E-E020-4639-BB31-D55734BD1DC5}" type="datetimeFigureOut">
              <a:rPr lang="LID4096" smtClean="0"/>
              <a:t>04/21/2026</a:t>
            </a:fld>
            <a:endParaRPr lang="LID4096"/>
          </a:p>
        </p:txBody>
      </p:sp>
      <p:sp>
        <p:nvSpPr>
          <p:cNvPr id="5" name="Footer Placeholder 4">
            <a:extLst>
              <a:ext uri="{FF2B5EF4-FFF2-40B4-BE49-F238E27FC236}">
                <a16:creationId xmlns:a16="http://schemas.microsoft.com/office/drawing/2014/main" id="{85509F87-0358-5EFA-90B6-B4D42BEE3F79}"/>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5DEC4070-51C0-B273-ACDA-1FE61D2A05C7}"/>
              </a:ext>
            </a:extLst>
          </p:cNvPr>
          <p:cNvSpPr>
            <a:spLocks noGrp="1"/>
          </p:cNvSpPr>
          <p:nvPr>
            <p:ph type="sldNum" sz="quarter" idx="12"/>
          </p:nvPr>
        </p:nvSpPr>
        <p:spPr/>
        <p:txBody>
          <a:bodyPr/>
          <a:lstStyle/>
          <a:p>
            <a:fld id="{81AA0B9B-59F8-4A18-B859-EA8C70225C5F}" type="slidenum">
              <a:rPr lang="LID4096" smtClean="0"/>
              <a:t>‹#›</a:t>
            </a:fld>
            <a:endParaRPr lang="LID4096"/>
          </a:p>
        </p:txBody>
      </p:sp>
    </p:spTree>
    <p:extLst>
      <p:ext uri="{BB962C8B-B14F-4D97-AF65-F5344CB8AC3E}">
        <p14:creationId xmlns:p14="http://schemas.microsoft.com/office/powerpoint/2010/main" val="2691949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6F44C-1E2D-5725-B5C0-FF862D6B3E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LID4096"/>
          </a:p>
        </p:txBody>
      </p:sp>
      <p:sp>
        <p:nvSpPr>
          <p:cNvPr id="3" name="Text Placeholder 2">
            <a:extLst>
              <a:ext uri="{FF2B5EF4-FFF2-40B4-BE49-F238E27FC236}">
                <a16:creationId xmlns:a16="http://schemas.microsoft.com/office/drawing/2014/main" id="{7DB769DB-37FA-E395-6C0A-A393479788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2D8EA5-6E9F-9BC0-559C-6071D4BB7F56}"/>
              </a:ext>
            </a:extLst>
          </p:cNvPr>
          <p:cNvSpPr>
            <a:spLocks noGrp="1"/>
          </p:cNvSpPr>
          <p:nvPr>
            <p:ph type="dt" sz="half" idx="10"/>
          </p:nvPr>
        </p:nvSpPr>
        <p:spPr/>
        <p:txBody>
          <a:bodyPr/>
          <a:lstStyle/>
          <a:p>
            <a:fld id="{B5950F1E-E020-4639-BB31-D55734BD1DC5}" type="datetimeFigureOut">
              <a:rPr lang="LID4096" smtClean="0"/>
              <a:t>04/21/2026</a:t>
            </a:fld>
            <a:endParaRPr lang="LID4096"/>
          </a:p>
        </p:txBody>
      </p:sp>
      <p:sp>
        <p:nvSpPr>
          <p:cNvPr id="5" name="Footer Placeholder 4">
            <a:extLst>
              <a:ext uri="{FF2B5EF4-FFF2-40B4-BE49-F238E27FC236}">
                <a16:creationId xmlns:a16="http://schemas.microsoft.com/office/drawing/2014/main" id="{A1F1DC53-5266-E504-182A-F84B58989246}"/>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442A68D2-08F4-13BF-85F1-C5B0F8EDCE42}"/>
              </a:ext>
            </a:extLst>
          </p:cNvPr>
          <p:cNvSpPr>
            <a:spLocks noGrp="1"/>
          </p:cNvSpPr>
          <p:nvPr>
            <p:ph type="sldNum" sz="quarter" idx="12"/>
          </p:nvPr>
        </p:nvSpPr>
        <p:spPr/>
        <p:txBody>
          <a:bodyPr/>
          <a:lstStyle/>
          <a:p>
            <a:fld id="{81AA0B9B-59F8-4A18-B859-EA8C70225C5F}" type="slidenum">
              <a:rPr lang="LID4096" smtClean="0"/>
              <a:t>‹#›</a:t>
            </a:fld>
            <a:endParaRPr lang="LID4096"/>
          </a:p>
        </p:txBody>
      </p:sp>
    </p:spTree>
    <p:extLst>
      <p:ext uri="{BB962C8B-B14F-4D97-AF65-F5344CB8AC3E}">
        <p14:creationId xmlns:p14="http://schemas.microsoft.com/office/powerpoint/2010/main" val="3536993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CBE79-3FA6-FD14-EAF5-592892317FF1}"/>
              </a:ext>
            </a:extLst>
          </p:cNvPr>
          <p:cNvSpPr>
            <a:spLocks noGrp="1"/>
          </p:cNvSpPr>
          <p:nvPr>
            <p:ph type="title"/>
          </p:nvPr>
        </p:nvSpPr>
        <p:spPr/>
        <p:txBody>
          <a:bodyPr/>
          <a:lstStyle/>
          <a:p>
            <a:r>
              <a:rPr lang="en-US"/>
              <a:t>Click to edit Master title style</a:t>
            </a:r>
            <a:endParaRPr lang="LID4096"/>
          </a:p>
        </p:txBody>
      </p:sp>
      <p:sp>
        <p:nvSpPr>
          <p:cNvPr id="3" name="Content Placeholder 2">
            <a:extLst>
              <a:ext uri="{FF2B5EF4-FFF2-40B4-BE49-F238E27FC236}">
                <a16:creationId xmlns:a16="http://schemas.microsoft.com/office/drawing/2014/main" id="{81F0F4CB-4B19-648E-6D44-2D2F1D3261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B3047221-3212-63B3-CAB6-2AEB442F00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82FEB180-1A30-8623-7B4D-70EC8B15BC65}"/>
              </a:ext>
            </a:extLst>
          </p:cNvPr>
          <p:cNvSpPr>
            <a:spLocks noGrp="1"/>
          </p:cNvSpPr>
          <p:nvPr>
            <p:ph type="dt" sz="half" idx="10"/>
          </p:nvPr>
        </p:nvSpPr>
        <p:spPr/>
        <p:txBody>
          <a:bodyPr/>
          <a:lstStyle/>
          <a:p>
            <a:fld id="{B5950F1E-E020-4639-BB31-D55734BD1DC5}" type="datetimeFigureOut">
              <a:rPr lang="LID4096" smtClean="0"/>
              <a:t>04/21/2026</a:t>
            </a:fld>
            <a:endParaRPr lang="LID4096"/>
          </a:p>
        </p:txBody>
      </p:sp>
      <p:sp>
        <p:nvSpPr>
          <p:cNvPr id="6" name="Footer Placeholder 5">
            <a:extLst>
              <a:ext uri="{FF2B5EF4-FFF2-40B4-BE49-F238E27FC236}">
                <a16:creationId xmlns:a16="http://schemas.microsoft.com/office/drawing/2014/main" id="{45EAF980-4E8F-A289-2252-2D2A35F710E2}"/>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A797050D-B0D4-7129-2002-1C46B5D442CC}"/>
              </a:ext>
            </a:extLst>
          </p:cNvPr>
          <p:cNvSpPr>
            <a:spLocks noGrp="1"/>
          </p:cNvSpPr>
          <p:nvPr>
            <p:ph type="sldNum" sz="quarter" idx="12"/>
          </p:nvPr>
        </p:nvSpPr>
        <p:spPr/>
        <p:txBody>
          <a:bodyPr/>
          <a:lstStyle/>
          <a:p>
            <a:fld id="{81AA0B9B-59F8-4A18-B859-EA8C70225C5F}" type="slidenum">
              <a:rPr lang="LID4096" smtClean="0"/>
              <a:t>‹#›</a:t>
            </a:fld>
            <a:endParaRPr lang="LID4096"/>
          </a:p>
        </p:txBody>
      </p:sp>
    </p:spTree>
    <p:extLst>
      <p:ext uri="{BB962C8B-B14F-4D97-AF65-F5344CB8AC3E}">
        <p14:creationId xmlns:p14="http://schemas.microsoft.com/office/powerpoint/2010/main" val="964386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742CA-D965-2DC8-E235-1551ACE3D045}"/>
              </a:ext>
            </a:extLst>
          </p:cNvPr>
          <p:cNvSpPr>
            <a:spLocks noGrp="1"/>
          </p:cNvSpPr>
          <p:nvPr>
            <p:ph type="title"/>
          </p:nvPr>
        </p:nvSpPr>
        <p:spPr>
          <a:xfrm>
            <a:off x="839788" y="365125"/>
            <a:ext cx="10515600" cy="1325563"/>
          </a:xfrm>
        </p:spPr>
        <p:txBody>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04FB6997-81E7-6D28-68C6-22E042BFEF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1390A7-FC75-C2B5-75D2-5525532F17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A96887FF-78A3-CF9C-49E1-47C4B62D8F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239C69-CFFA-45A0-E422-F8D76E2A8B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1D45864A-8B83-B2C0-2339-C10907EDFAFD}"/>
              </a:ext>
            </a:extLst>
          </p:cNvPr>
          <p:cNvSpPr>
            <a:spLocks noGrp="1"/>
          </p:cNvSpPr>
          <p:nvPr>
            <p:ph type="dt" sz="half" idx="10"/>
          </p:nvPr>
        </p:nvSpPr>
        <p:spPr/>
        <p:txBody>
          <a:bodyPr/>
          <a:lstStyle/>
          <a:p>
            <a:fld id="{B5950F1E-E020-4639-BB31-D55734BD1DC5}" type="datetimeFigureOut">
              <a:rPr lang="LID4096" smtClean="0"/>
              <a:t>04/21/2026</a:t>
            </a:fld>
            <a:endParaRPr lang="LID4096"/>
          </a:p>
        </p:txBody>
      </p:sp>
      <p:sp>
        <p:nvSpPr>
          <p:cNvPr id="8" name="Footer Placeholder 7">
            <a:extLst>
              <a:ext uri="{FF2B5EF4-FFF2-40B4-BE49-F238E27FC236}">
                <a16:creationId xmlns:a16="http://schemas.microsoft.com/office/drawing/2014/main" id="{CEEAE3FA-AAE2-EF05-3C7F-63A614B77537}"/>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D5524EC9-079E-9C1D-8C44-6D52BE6440B5}"/>
              </a:ext>
            </a:extLst>
          </p:cNvPr>
          <p:cNvSpPr>
            <a:spLocks noGrp="1"/>
          </p:cNvSpPr>
          <p:nvPr>
            <p:ph type="sldNum" sz="quarter" idx="12"/>
          </p:nvPr>
        </p:nvSpPr>
        <p:spPr/>
        <p:txBody>
          <a:bodyPr/>
          <a:lstStyle/>
          <a:p>
            <a:fld id="{81AA0B9B-59F8-4A18-B859-EA8C70225C5F}" type="slidenum">
              <a:rPr lang="LID4096" smtClean="0"/>
              <a:t>‹#›</a:t>
            </a:fld>
            <a:endParaRPr lang="LID4096"/>
          </a:p>
        </p:txBody>
      </p:sp>
    </p:spTree>
    <p:extLst>
      <p:ext uri="{BB962C8B-B14F-4D97-AF65-F5344CB8AC3E}">
        <p14:creationId xmlns:p14="http://schemas.microsoft.com/office/powerpoint/2010/main" val="2369444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497F0-6D34-B417-6B7D-FC366EEDFF88}"/>
              </a:ext>
            </a:extLst>
          </p:cNvPr>
          <p:cNvSpPr>
            <a:spLocks noGrp="1"/>
          </p:cNvSpPr>
          <p:nvPr>
            <p:ph type="title"/>
          </p:nvPr>
        </p:nvSpPr>
        <p:spPr/>
        <p:txBody>
          <a:bodyPr/>
          <a:lstStyle/>
          <a:p>
            <a:r>
              <a:rPr lang="en-US"/>
              <a:t>Click to edit Master title style</a:t>
            </a:r>
            <a:endParaRPr lang="LID4096"/>
          </a:p>
        </p:txBody>
      </p:sp>
      <p:sp>
        <p:nvSpPr>
          <p:cNvPr id="3" name="Date Placeholder 2">
            <a:extLst>
              <a:ext uri="{FF2B5EF4-FFF2-40B4-BE49-F238E27FC236}">
                <a16:creationId xmlns:a16="http://schemas.microsoft.com/office/drawing/2014/main" id="{C15465DE-6DF0-3FD9-7326-E97C96F19C90}"/>
              </a:ext>
            </a:extLst>
          </p:cNvPr>
          <p:cNvSpPr>
            <a:spLocks noGrp="1"/>
          </p:cNvSpPr>
          <p:nvPr>
            <p:ph type="dt" sz="half" idx="10"/>
          </p:nvPr>
        </p:nvSpPr>
        <p:spPr/>
        <p:txBody>
          <a:bodyPr/>
          <a:lstStyle/>
          <a:p>
            <a:fld id="{B5950F1E-E020-4639-BB31-D55734BD1DC5}" type="datetimeFigureOut">
              <a:rPr lang="LID4096" smtClean="0"/>
              <a:t>04/21/2026</a:t>
            </a:fld>
            <a:endParaRPr lang="LID4096"/>
          </a:p>
        </p:txBody>
      </p:sp>
      <p:sp>
        <p:nvSpPr>
          <p:cNvPr id="4" name="Footer Placeholder 3">
            <a:extLst>
              <a:ext uri="{FF2B5EF4-FFF2-40B4-BE49-F238E27FC236}">
                <a16:creationId xmlns:a16="http://schemas.microsoft.com/office/drawing/2014/main" id="{CD61E99F-D779-FF27-6B88-407FBBFA8C3A}"/>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8D9BE4D5-A728-6CCA-B0D1-9C92DB972A89}"/>
              </a:ext>
            </a:extLst>
          </p:cNvPr>
          <p:cNvSpPr>
            <a:spLocks noGrp="1"/>
          </p:cNvSpPr>
          <p:nvPr>
            <p:ph type="sldNum" sz="quarter" idx="12"/>
          </p:nvPr>
        </p:nvSpPr>
        <p:spPr/>
        <p:txBody>
          <a:bodyPr/>
          <a:lstStyle/>
          <a:p>
            <a:fld id="{81AA0B9B-59F8-4A18-B859-EA8C70225C5F}" type="slidenum">
              <a:rPr lang="LID4096" smtClean="0"/>
              <a:t>‹#›</a:t>
            </a:fld>
            <a:endParaRPr lang="LID4096"/>
          </a:p>
        </p:txBody>
      </p:sp>
    </p:spTree>
    <p:extLst>
      <p:ext uri="{BB962C8B-B14F-4D97-AF65-F5344CB8AC3E}">
        <p14:creationId xmlns:p14="http://schemas.microsoft.com/office/powerpoint/2010/main" val="3201440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FDF93E-640C-0556-1AEC-9710029D19C4}"/>
              </a:ext>
            </a:extLst>
          </p:cNvPr>
          <p:cNvSpPr>
            <a:spLocks noGrp="1"/>
          </p:cNvSpPr>
          <p:nvPr>
            <p:ph type="dt" sz="half" idx="10"/>
          </p:nvPr>
        </p:nvSpPr>
        <p:spPr/>
        <p:txBody>
          <a:bodyPr/>
          <a:lstStyle/>
          <a:p>
            <a:fld id="{B5950F1E-E020-4639-BB31-D55734BD1DC5}" type="datetimeFigureOut">
              <a:rPr lang="LID4096" smtClean="0"/>
              <a:t>04/21/2026</a:t>
            </a:fld>
            <a:endParaRPr lang="LID4096"/>
          </a:p>
        </p:txBody>
      </p:sp>
      <p:sp>
        <p:nvSpPr>
          <p:cNvPr id="3" name="Footer Placeholder 2">
            <a:extLst>
              <a:ext uri="{FF2B5EF4-FFF2-40B4-BE49-F238E27FC236}">
                <a16:creationId xmlns:a16="http://schemas.microsoft.com/office/drawing/2014/main" id="{4AEB3D42-025F-6107-FF75-97E892A25B98}"/>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C6CFE9AF-AEAE-F916-9AB8-418C6C8885A9}"/>
              </a:ext>
            </a:extLst>
          </p:cNvPr>
          <p:cNvSpPr>
            <a:spLocks noGrp="1"/>
          </p:cNvSpPr>
          <p:nvPr>
            <p:ph type="sldNum" sz="quarter" idx="12"/>
          </p:nvPr>
        </p:nvSpPr>
        <p:spPr/>
        <p:txBody>
          <a:bodyPr/>
          <a:lstStyle/>
          <a:p>
            <a:fld id="{81AA0B9B-59F8-4A18-B859-EA8C70225C5F}" type="slidenum">
              <a:rPr lang="LID4096" smtClean="0"/>
              <a:t>‹#›</a:t>
            </a:fld>
            <a:endParaRPr lang="LID4096"/>
          </a:p>
        </p:txBody>
      </p:sp>
    </p:spTree>
    <p:extLst>
      <p:ext uri="{BB962C8B-B14F-4D97-AF65-F5344CB8AC3E}">
        <p14:creationId xmlns:p14="http://schemas.microsoft.com/office/powerpoint/2010/main" val="3893643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0F8B1-A058-F623-C1F5-9A01BC9ECE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50130649-2D1C-9327-0EFC-AF70139E41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A19DDA5B-23C9-3363-5CA9-CF65AE24C4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F232CE-98ED-9C20-D714-377A3AF7E1E8}"/>
              </a:ext>
            </a:extLst>
          </p:cNvPr>
          <p:cNvSpPr>
            <a:spLocks noGrp="1"/>
          </p:cNvSpPr>
          <p:nvPr>
            <p:ph type="dt" sz="half" idx="10"/>
          </p:nvPr>
        </p:nvSpPr>
        <p:spPr/>
        <p:txBody>
          <a:bodyPr/>
          <a:lstStyle/>
          <a:p>
            <a:fld id="{B5950F1E-E020-4639-BB31-D55734BD1DC5}" type="datetimeFigureOut">
              <a:rPr lang="LID4096" smtClean="0"/>
              <a:t>04/21/2026</a:t>
            </a:fld>
            <a:endParaRPr lang="LID4096"/>
          </a:p>
        </p:txBody>
      </p:sp>
      <p:sp>
        <p:nvSpPr>
          <p:cNvPr id="6" name="Footer Placeholder 5">
            <a:extLst>
              <a:ext uri="{FF2B5EF4-FFF2-40B4-BE49-F238E27FC236}">
                <a16:creationId xmlns:a16="http://schemas.microsoft.com/office/drawing/2014/main" id="{D66AC6FE-74F5-7769-1B83-1BB0351271FC}"/>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524C9877-DCA1-09E1-5059-711380E597BF}"/>
              </a:ext>
            </a:extLst>
          </p:cNvPr>
          <p:cNvSpPr>
            <a:spLocks noGrp="1"/>
          </p:cNvSpPr>
          <p:nvPr>
            <p:ph type="sldNum" sz="quarter" idx="12"/>
          </p:nvPr>
        </p:nvSpPr>
        <p:spPr/>
        <p:txBody>
          <a:bodyPr/>
          <a:lstStyle/>
          <a:p>
            <a:fld id="{81AA0B9B-59F8-4A18-B859-EA8C70225C5F}" type="slidenum">
              <a:rPr lang="LID4096" smtClean="0"/>
              <a:t>‹#›</a:t>
            </a:fld>
            <a:endParaRPr lang="LID4096"/>
          </a:p>
        </p:txBody>
      </p:sp>
    </p:spTree>
    <p:extLst>
      <p:ext uri="{BB962C8B-B14F-4D97-AF65-F5344CB8AC3E}">
        <p14:creationId xmlns:p14="http://schemas.microsoft.com/office/powerpoint/2010/main" val="3029722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320FD-342C-6A0F-E5B5-68CCBC5E9B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6D17F200-ADA2-E4C7-E7F4-98DF946013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D60FC1C7-63E4-23E5-D55F-E1CB640541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6EF4C7-DF6F-AEDF-3149-DC310303AAE4}"/>
              </a:ext>
            </a:extLst>
          </p:cNvPr>
          <p:cNvSpPr>
            <a:spLocks noGrp="1"/>
          </p:cNvSpPr>
          <p:nvPr>
            <p:ph type="dt" sz="half" idx="10"/>
          </p:nvPr>
        </p:nvSpPr>
        <p:spPr/>
        <p:txBody>
          <a:bodyPr/>
          <a:lstStyle/>
          <a:p>
            <a:fld id="{B5950F1E-E020-4639-BB31-D55734BD1DC5}" type="datetimeFigureOut">
              <a:rPr lang="LID4096" smtClean="0"/>
              <a:t>04/21/2026</a:t>
            </a:fld>
            <a:endParaRPr lang="LID4096"/>
          </a:p>
        </p:txBody>
      </p:sp>
      <p:sp>
        <p:nvSpPr>
          <p:cNvPr id="6" name="Footer Placeholder 5">
            <a:extLst>
              <a:ext uri="{FF2B5EF4-FFF2-40B4-BE49-F238E27FC236}">
                <a16:creationId xmlns:a16="http://schemas.microsoft.com/office/drawing/2014/main" id="{4DDC4B41-0092-2A38-0069-C54FBF19DF60}"/>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7A981A44-3AE8-6F3D-D8F5-E6898FBA654C}"/>
              </a:ext>
            </a:extLst>
          </p:cNvPr>
          <p:cNvSpPr>
            <a:spLocks noGrp="1"/>
          </p:cNvSpPr>
          <p:nvPr>
            <p:ph type="sldNum" sz="quarter" idx="12"/>
          </p:nvPr>
        </p:nvSpPr>
        <p:spPr/>
        <p:txBody>
          <a:bodyPr/>
          <a:lstStyle/>
          <a:p>
            <a:fld id="{81AA0B9B-59F8-4A18-B859-EA8C70225C5F}" type="slidenum">
              <a:rPr lang="LID4096" smtClean="0"/>
              <a:t>‹#›</a:t>
            </a:fld>
            <a:endParaRPr lang="LID4096"/>
          </a:p>
        </p:txBody>
      </p:sp>
    </p:spTree>
    <p:extLst>
      <p:ext uri="{BB962C8B-B14F-4D97-AF65-F5344CB8AC3E}">
        <p14:creationId xmlns:p14="http://schemas.microsoft.com/office/powerpoint/2010/main" val="3975191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A8E4D-C493-DC0C-3F47-151B3A571FAD}"/>
              </a:ext>
            </a:extLst>
          </p:cNvPr>
          <p:cNvSpPr>
            <a:spLocks noGrp="1"/>
          </p:cNvSpPr>
          <p:nvPr>
            <p:ph type="title"/>
          </p:nvPr>
        </p:nvSpPr>
        <p:spPr/>
        <p:txBody>
          <a:bodyPr/>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49F1C46F-227C-CF8E-631E-5A0EF1EB606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18AF013B-AB32-036E-0DC1-C7A24A7C8AA3}"/>
              </a:ext>
            </a:extLst>
          </p:cNvPr>
          <p:cNvSpPr>
            <a:spLocks noGrp="1"/>
          </p:cNvSpPr>
          <p:nvPr>
            <p:ph type="dt" sz="half" idx="10"/>
          </p:nvPr>
        </p:nvSpPr>
        <p:spPr/>
        <p:txBody>
          <a:bodyPr/>
          <a:lstStyle/>
          <a:p>
            <a:fld id="{B5950F1E-E020-4639-BB31-D55734BD1DC5}" type="datetimeFigureOut">
              <a:rPr lang="LID4096" smtClean="0"/>
              <a:t>04/21/2026</a:t>
            </a:fld>
            <a:endParaRPr lang="LID4096"/>
          </a:p>
        </p:txBody>
      </p:sp>
      <p:sp>
        <p:nvSpPr>
          <p:cNvPr id="5" name="Footer Placeholder 4">
            <a:extLst>
              <a:ext uri="{FF2B5EF4-FFF2-40B4-BE49-F238E27FC236}">
                <a16:creationId xmlns:a16="http://schemas.microsoft.com/office/drawing/2014/main" id="{397A5877-1AE0-33C3-47AE-6E05BB09468F}"/>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56186399-79DB-45CA-4E4D-F1E579314562}"/>
              </a:ext>
            </a:extLst>
          </p:cNvPr>
          <p:cNvSpPr>
            <a:spLocks noGrp="1"/>
          </p:cNvSpPr>
          <p:nvPr>
            <p:ph type="sldNum" sz="quarter" idx="12"/>
          </p:nvPr>
        </p:nvSpPr>
        <p:spPr/>
        <p:txBody>
          <a:bodyPr/>
          <a:lstStyle/>
          <a:p>
            <a:fld id="{81AA0B9B-59F8-4A18-B859-EA8C70225C5F}" type="slidenum">
              <a:rPr lang="LID4096" smtClean="0"/>
              <a:t>‹#›</a:t>
            </a:fld>
            <a:endParaRPr lang="LID4096"/>
          </a:p>
        </p:txBody>
      </p:sp>
    </p:spTree>
    <p:extLst>
      <p:ext uri="{BB962C8B-B14F-4D97-AF65-F5344CB8AC3E}">
        <p14:creationId xmlns:p14="http://schemas.microsoft.com/office/powerpoint/2010/main" val="2221633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65D22C-6131-0F7D-989E-37E9AF9B8F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D71CE771-509A-6B23-6018-CCD9CF007B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D046AE15-70E8-FFE6-31D0-EC22C798D4DC}"/>
              </a:ext>
            </a:extLst>
          </p:cNvPr>
          <p:cNvSpPr>
            <a:spLocks noGrp="1"/>
          </p:cNvSpPr>
          <p:nvPr>
            <p:ph type="dt" sz="half" idx="10"/>
          </p:nvPr>
        </p:nvSpPr>
        <p:spPr/>
        <p:txBody>
          <a:bodyPr/>
          <a:lstStyle/>
          <a:p>
            <a:fld id="{B5950F1E-E020-4639-BB31-D55734BD1DC5}" type="datetimeFigureOut">
              <a:rPr lang="LID4096" smtClean="0"/>
              <a:t>04/21/2026</a:t>
            </a:fld>
            <a:endParaRPr lang="LID4096"/>
          </a:p>
        </p:txBody>
      </p:sp>
      <p:sp>
        <p:nvSpPr>
          <p:cNvPr id="5" name="Footer Placeholder 4">
            <a:extLst>
              <a:ext uri="{FF2B5EF4-FFF2-40B4-BE49-F238E27FC236}">
                <a16:creationId xmlns:a16="http://schemas.microsoft.com/office/drawing/2014/main" id="{E1A43C09-6709-5654-3CF5-E2F47A329022}"/>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2C0C7B53-78B2-8D14-291D-3F217C8B0857}"/>
              </a:ext>
            </a:extLst>
          </p:cNvPr>
          <p:cNvSpPr>
            <a:spLocks noGrp="1"/>
          </p:cNvSpPr>
          <p:nvPr>
            <p:ph type="sldNum" sz="quarter" idx="12"/>
          </p:nvPr>
        </p:nvSpPr>
        <p:spPr/>
        <p:txBody>
          <a:bodyPr/>
          <a:lstStyle/>
          <a:p>
            <a:fld id="{81AA0B9B-59F8-4A18-B859-EA8C70225C5F}" type="slidenum">
              <a:rPr lang="LID4096" smtClean="0"/>
              <a:t>‹#›</a:t>
            </a:fld>
            <a:endParaRPr lang="LID4096"/>
          </a:p>
        </p:txBody>
      </p:sp>
    </p:spTree>
    <p:extLst>
      <p:ext uri="{BB962C8B-B14F-4D97-AF65-F5344CB8AC3E}">
        <p14:creationId xmlns:p14="http://schemas.microsoft.com/office/powerpoint/2010/main" val="1016057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4D0871-DC09-73E2-B336-061B8ACD63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LID4096"/>
          </a:p>
        </p:txBody>
      </p:sp>
      <p:sp>
        <p:nvSpPr>
          <p:cNvPr id="3" name="Text Placeholder 2">
            <a:extLst>
              <a:ext uri="{FF2B5EF4-FFF2-40B4-BE49-F238E27FC236}">
                <a16:creationId xmlns:a16="http://schemas.microsoft.com/office/drawing/2014/main" id="{031A7706-94B0-0B16-A1CE-CF93C5921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EEB0505B-01B1-FAD5-130B-6C5B3418C2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950F1E-E020-4639-BB31-D55734BD1DC5}" type="datetimeFigureOut">
              <a:rPr lang="LID4096" smtClean="0"/>
              <a:t>04/21/2026</a:t>
            </a:fld>
            <a:endParaRPr lang="LID4096"/>
          </a:p>
        </p:txBody>
      </p:sp>
      <p:sp>
        <p:nvSpPr>
          <p:cNvPr id="5" name="Footer Placeholder 4">
            <a:extLst>
              <a:ext uri="{FF2B5EF4-FFF2-40B4-BE49-F238E27FC236}">
                <a16:creationId xmlns:a16="http://schemas.microsoft.com/office/drawing/2014/main" id="{48D9D867-D091-EA2A-0E07-C256A15423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1053BBBA-7C4E-276E-7FA7-7FC9CC1BD7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AA0B9B-59F8-4A18-B859-EA8C70225C5F}" type="slidenum">
              <a:rPr lang="LID4096" smtClean="0"/>
              <a:t>‹#›</a:t>
            </a:fld>
            <a:endParaRPr lang="LID4096"/>
          </a:p>
        </p:txBody>
      </p:sp>
    </p:spTree>
    <p:extLst>
      <p:ext uri="{BB962C8B-B14F-4D97-AF65-F5344CB8AC3E}">
        <p14:creationId xmlns:p14="http://schemas.microsoft.com/office/powerpoint/2010/main" val="973707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CAB1D-0100-CBDC-ED66-1AE1064965A6}"/>
              </a:ext>
            </a:extLst>
          </p:cNvPr>
          <p:cNvSpPr>
            <a:spLocks noGrp="1"/>
          </p:cNvSpPr>
          <p:nvPr>
            <p:ph type="ctrTitle"/>
          </p:nvPr>
        </p:nvSpPr>
        <p:spPr/>
        <p:txBody>
          <a:bodyPr>
            <a:normAutofit fontScale="90000"/>
          </a:bodyPr>
          <a:lstStyle/>
          <a:p>
            <a:r>
              <a:rPr lang="en-US" dirty="0"/>
              <a:t>Notes on literature for neuromorphic graphene </a:t>
            </a:r>
            <a:r>
              <a:rPr lang="en-US"/>
              <a:t>device project</a:t>
            </a:r>
            <a:endParaRPr lang="LID4096"/>
          </a:p>
        </p:txBody>
      </p:sp>
    </p:spTree>
    <p:extLst>
      <p:ext uri="{BB962C8B-B14F-4D97-AF65-F5344CB8AC3E}">
        <p14:creationId xmlns:p14="http://schemas.microsoft.com/office/powerpoint/2010/main" val="4225160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0E3EA-FE7E-E38C-B20A-51470724ED5A}"/>
              </a:ext>
            </a:extLst>
          </p:cNvPr>
          <p:cNvSpPr>
            <a:spLocks noGrp="1"/>
          </p:cNvSpPr>
          <p:nvPr>
            <p:ph type="title"/>
          </p:nvPr>
        </p:nvSpPr>
        <p:spPr/>
        <p:txBody>
          <a:bodyPr/>
          <a:lstStyle/>
          <a:p>
            <a:pPr algn="ctr"/>
            <a:r>
              <a:rPr lang="en-US" dirty="0"/>
              <a:t>2020</a:t>
            </a:r>
            <a:endParaRPr lang="LID4096" dirty="0"/>
          </a:p>
        </p:txBody>
      </p:sp>
      <p:sp>
        <p:nvSpPr>
          <p:cNvPr id="3" name="Text Placeholder 2">
            <a:extLst>
              <a:ext uri="{FF2B5EF4-FFF2-40B4-BE49-F238E27FC236}">
                <a16:creationId xmlns:a16="http://schemas.microsoft.com/office/drawing/2014/main" id="{502BBE04-C32E-8EC7-C061-2B24CED75BCB}"/>
              </a:ext>
            </a:extLst>
          </p:cNvPr>
          <p:cNvSpPr>
            <a:spLocks noGrp="1"/>
          </p:cNvSpPr>
          <p:nvPr>
            <p:ph type="body" idx="1"/>
          </p:nvPr>
        </p:nvSpPr>
        <p:spPr/>
        <p:txBody>
          <a:bodyPr/>
          <a:lstStyle/>
          <a:p>
            <a:endParaRPr lang="LID4096"/>
          </a:p>
        </p:txBody>
      </p:sp>
    </p:spTree>
    <p:extLst>
      <p:ext uri="{BB962C8B-B14F-4D97-AF65-F5344CB8AC3E}">
        <p14:creationId xmlns:p14="http://schemas.microsoft.com/office/powerpoint/2010/main" val="2211903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5083D-76C4-E7C5-E63E-A9A5287C322E}"/>
              </a:ext>
            </a:extLst>
          </p:cNvPr>
          <p:cNvSpPr>
            <a:spLocks noGrp="1"/>
          </p:cNvSpPr>
          <p:nvPr>
            <p:ph type="title"/>
          </p:nvPr>
        </p:nvSpPr>
        <p:spPr>
          <a:xfrm>
            <a:off x="838200" y="365125"/>
            <a:ext cx="10515600" cy="886731"/>
          </a:xfrm>
        </p:spPr>
        <p:txBody>
          <a:bodyPr>
            <a:normAutofit/>
          </a:bodyPr>
          <a:lstStyle/>
          <a:p>
            <a:r>
              <a:rPr lang="en-US" sz="2400" dirty="0"/>
              <a:t>Ultrafast machine vision with 2D material neural network image sensors  https://doi.org/10.1038/s41586-020-2038-x</a:t>
            </a:r>
            <a:endParaRPr lang="LID4096" sz="2400" dirty="0"/>
          </a:p>
        </p:txBody>
      </p:sp>
      <p:sp>
        <p:nvSpPr>
          <p:cNvPr id="3" name="TextBox 2">
            <a:extLst>
              <a:ext uri="{FF2B5EF4-FFF2-40B4-BE49-F238E27FC236}">
                <a16:creationId xmlns:a16="http://schemas.microsoft.com/office/drawing/2014/main" id="{1F650057-B1DD-2EF6-C479-4EAD26FEBB23}"/>
              </a:ext>
            </a:extLst>
          </p:cNvPr>
          <p:cNvSpPr txBox="1"/>
          <p:nvPr/>
        </p:nvSpPr>
        <p:spPr>
          <a:xfrm>
            <a:off x="533400" y="1698171"/>
            <a:ext cx="11386457" cy="1477328"/>
          </a:xfrm>
          <a:prstGeom prst="rect">
            <a:avLst/>
          </a:prstGeom>
          <a:noFill/>
        </p:spPr>
        <p:txBody>
          <a:bodyPr wrap="square" rtlCol="0">
            <a:spAutoFit/>
          </a:bodyPr>
          <a:lstStyle/>
          <a:p>
            <a:pPr marL="285750" indent="-285750">
              <a:buFont typeface="Arial" panose="020B0604020202020204" pitchFamily="34" charset="0"/>
              <a:buChar char="•"/>
            </a:pPr>
            <a:r>
              <a:rPr lang="en-US" dirty="0"/>
              <a:t>One of main papers!</a:t>
            </a:r>
          </a:p>
          <a:p>
            <a:pPr marL="285750" indent="-285750">
              <a:buFont typeface="Arial" panose="020B0604020202020204" pitchFamily="34" charset="0"/>
              <a:buChar char="•"/>
            </a:pPr>
            <a:r>
              <a:rPr lang="en-US" dirty="0"/>
              <a:t>From nature views – nice motivation part. Also – material – tungsten </a:t>
            </a:r>
            <a:r>
              <a:rPr lang="en-US" dirty="0" err="1"/>
              <a:t>diselenide</a:t>
            </a:r>
            <a:endParaRPr lang="en-US" dirty="0"/>
          </a:p>
          <a:p>
            <a:pPr marL="285750" indent="-285750">
              <a:buFont typeface="Arial" panose="020B0604020202020204" pitchFamily="34" charset="0"/>
              <a:buChar char="•"/>
            </a:pPr>
            <a:r>
              <a:rPr lang="en-US" dirty="0"/>
              <a:t>Imaging under dim light would be difficult for the device described by the authors. A redesign would be needed to improve light absorption in the thin semiconductor and to increase the range of light intensities that can be detected.</a:t>
            </a:r>
            <a:endParaRPr lang="LID4096" dirty="0"/>
          </a:p>
        </p:txBody>
      </p:sp>
    </p:spTree>
    <p:extLst>
      <p:ext uri="{BB962C8B-B14F-4D97-AF65-F5344CB8AC3E}">
        <p14:creationId xmlns:p14="http://schemas.microsoft.com/office/powerpoint/2010/main" val="552706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B0677-26C4-5430-EEDE-AC68C3DA423A}"/>
              </a:ext>
            </a:extLst>
          </p:cNvPr>
          <p:cNvSpPr>
            <a:spLocks noGrp="1"/>
          </p:cNvSpPr>
          <p:nvPr>
            <p:ph type="title"/>
          </p:nvPr>
        </p:nvSpPr>
        <p:spPr/>
        <p:txBody>
          <a:bodyPr/>
          <a:lstStyle/>
          <a:p>
            <a:pPr algn="ctr"/>
            <a:r>
              <a:rPr lang="en-US" dirty="0"/>
              <a:t>2022</a:t>
            </a:r>
            <a:endParaRPr lang="LID4096" dirty="0"/>
          </a:p>
        </p:txBody>
      </p:sp>
      <p:sp>
        <p:nvSpPr>
          <p:cNvPr id="3" name="Text Placeholder 2">
            <a:extLst>
              <a:ext uri="{FF2B5EF4-FFF2-40B4-BE49-F238E27FC236}">
                <a16:creationId xmlns:a16="http://schemas.microsoft.com/office/drawing/2014/main" id="{EDF80201-5504-7D1F-0138-ED7E6C91B1C9}"/>
              </a:ext>
            </a:extLst>
          </p:cNvPr>
          <p:cNvSpPr>
            <a:spLocks noGrp="1"/>
          </p:cNvSpPr>
          <p:nvPr>
            <p:ph type="body" idx="1"/>
          </p:nvPr>
        </p:nvSpPr>
        <p:spPr/>
        <p:txBody>
          <a:bodyPr/>
          <a:lstStyle/>
          <a:p>
            <a:endParaRPr lang="LID4096"/>
          </a:p>
        </p:txBody>
      </p:sp>
    </p:spTree>
    <p:extLst>
      <p:ext uri="{BB962C8B-B14F-4D97-AF65-F5344CB8AC3E}">
        <p14:creationId xmlns:p14="http://schemas.microsoft.com/office/powerpoint/2010/main" val="3562492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BC1B6-50B5-8CE7-43FD-D5F386105F2C}"/>
              </a:ext>
            </a:extLst>
          </p:cNvPr>
          <p:cNvSpPr>
            <a:spLocks noGrp="1"/>
          </p:cNvSpPr>
          <p:nvPr>
            <p:ph type="title"/>
          </p:nvPr>
        </p:nvSpPr>
        <p:spPr/>
        <p:txBody>
          <a:bodyPr>
            <a:normAutofit fontScale="90000"/>
          </a:bodyPr>
          <a:lstStyle/>
          <a:p>
            <a:r>
              <a:rPr lang="en-US" sz="3100" b="1" dirty="0"/>
              <a:t>Gate-tunable quantum pathways of high harmonic generation in graphene - </a:t>
            </a:r>
            <a:r>
              <a:rPr lang="en-US" sz="3100" dirty="0"/>
              <a:t>10.1038/s41467-022-34337-y</a:t>
            </a:r>
            <a:br>
              <a:rPr lang="en-US" b="1" dirty="0"/>
            </a:br>
            <a:endParaRPr lang="LID4096" dirty="0"/>
          </a:p>
        </p:txBody>
      </p:sp>
      <p:sp>
        <p:nvSpPr>
          <p:cNvPr id="3" name="Content Placeholder 2">
            <a:extLst>
              <a:ext uri="{FF2B5EF4-FFF2-40B4-BE49-F238E27FC236}">
                <a16:creationId xmlns:a16="http://schemas.microsoft.com/office/drawing/2014/main" id="{4B720ACC-20BE-0952-4D96-F76768722B62}"/>
              </a:ext>
            </a:extLst>
          </p:cNvPr>
          <p:cNvSpPr>
            <a:spLocks noGrp="1"/>
          </p:cNvSpPr>
          <p:nvPr>
            <p:ph idx="1"/>
          </p:nvPr>
        </p:nvSpPr>
        <p:spPr/>
        <p:txBody>
          <a:bodyPr/>
          <a:lstStyle/>
          <a:p>
            <a:endParaRPr lang="LID4096"/>
          </a:p>
        </p:txBody>
      </p:sp>
    </p:spTree>
    <p:extLst>
      <p:ext uri="{BB962C8B-B14F-4D97-AF65-F5344CB8AC3E}">
        <p14:creationId xmlns:p14="http://schemas.microsoft.com/office/powerpoint/2010/main" val="1742787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1AE05-DCF1-0039-4E2F-BCB52061D37F}"/>
              </a:ext>
            </a:extLst>
          </p:cNvPr>
          <p:cNvSpPr>
            <a:spLocks noGrp="1"/>
          </p:cNvSpPr>
          <p:nvPr>
            <p:ph type="title"/>
          </p:nvPr>
        </p:nvSpPr>
        <p:spPr/>
        <p:txBody>
          <a:bodyPr/>
          <a:lstStyle/>
          <a:p>
            <a:r>
              <a:rPr lang="en-US" dirty="0"/>
              <a:t>2024</a:t>
            </a:r>
            <a:endParaRPr lang="LID4096" dirty="0"/>
          </a:p>
        </p:txBody>
      </p:sp>
      <p:sp>
        <p:nvSpPr>
          <p:cNvPr id="3" name="Text Placeholder 2">
            <a:extLst>
              <a:ext uri="{FF2B5EF4-FFF2-40B4-BE49-F238E27FC236}">
                <a16:creationId xmlns:a16="http://schemas.microsoft.com/office/drawing/2014/main" id="{6D82221E-FBC2-609F-0F30-4F1DA82F058A}"/>
              </a:ext>
            </a:extLst>
          </p:cNvPr>
          <p:cNvSpPr>
            <a:spLocks noGrp="1"/>
          </p:cNvSpPr>
          <p:nvPr>
            <p:ph type="body" idx="1"/>
          </p:nvPr>
        </p:nvSpPr>
        <p:spPr/>
        <p:txBody>
          <a:bodyPr/>
          <a:lstStyle/>
          <a:p>
            <a:endParaRPr lang="LID4096"/>
          </a:p>
        </p:txBody>
      </p:sp>
    </p:spTree>
    <p:extLst>
      <p:ext uri="{BB962C8B-B14F-4D97-AF65-F5344CB8AC3E}">
        <p14:creationId xmlns:p14="http://schemas.microsoft.com/office/powerpoint/2010/main" val="1118827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3B2C9-3CA9-C3B7-D6F1-6BBBFA5C6CE4}"/>
              </a:ext>
            </a:extLst>
          </p:cNvPr>
          <p:cNvSpPr>
            <a:spLocks noGrp="1"/>
          </p:cNvSpPr>
          <p:nvPr>
            <p:ph type="title"/>
          </p:nvPr>
        </p:nvSpPr>
        <p:spPr/>
        <p:txBody>
          <a:bodyPr>
            <a:normAutofit/>
          </a:bodyPr>
          <a:lstStyle/>
          <a:p>
            <a:r>
              <a:rPr lang="en-US" dirty="0"/>
              <a:t> </a:t>
            </a:r>
            <a:r>
              <a:rPr lang="en-US" sz="2700" dirty="0"/>
              <a:t>Programmable nonlinear optical neuromorphic computing with bare 2D</a:t>
            </a:r>
            <a:br>
              <a:rPr lang="en-US" sz="2700" dirty="0"/>
            </a:br>
            <a:r>
              <a:rPr lang="en-US" sz="2700" dirty="0"/>
              <a:t>material MoS2 https://doi.org/10.1038/s41467-024-54776-z</a:t>
            </a:r>
            <a:endParaRPr lang="LID4096" dirty="0"/>
          </a:p>
        </p:txBody>
      </p:sp>
      <p:sp>
        <p:nvSpPr>
          <p:cNvPr id="3" name="TextBox 2">
            <a:extLst>
              <a:ext uri="{FF2B5EF4-FFF2-40B4-BE49-F238E27FC236}">
                <a16:creationId xmlns:a16="http://schemas.microsoft.com/office/drawing/2014/main" id="{FBE88B9E-E919-3378-0818-B6182C23972A}"/>
              </a:ext>
            </a:extLst>
          </p:cNvPr>
          <p:cNvSpPr txBox="1"/>
          <p:nvPr/>
        </p:nvSpPr>
        <p:spPr>
          <a:xfrm>
            <a:off x="389744" y="1690688"/>
            <a:ext cx="11562770" cy="4278094"/>
          </a:xfrm>
          <a:prstGeom prst="rect">
            <a:avLst/>
          </a:prstGeom>
          <a:noFill/>
        </p:spPr>
        <p:txBody>
          <a:bodyPr wrap="square" rtlCol="0">
            <a:spAutoFit/>
          </a:bodyPr>
          <a:lstStyle/>
          <a:p>
            <a:r>
              <a:rPr lang="en-US" sz="1600" dirty="0">
                <a:solidFill>
                  <a:srgbClr val="FF0000"/>
                </a:solidFill>
              </a:rPr>
              <a:t>Questions:</a:t>
            </a:r>
          </a:p>
          <a:p>
            <a:pPr marL="285750" indent="-285750">
              <a:buFont typeface="Arial" panose="020B0604020202020204" pitchFamily="34" charset="0"/>
              <a:buChar char="•"/>
            </a:pPr>
            <a:endParaRPr lang="en-US" sz="1600" dirty="0"/>
          </a:p>
          <a:p>
            <a:r>
              <a:rPr lang="en-US" sz="1600" dirty="0">
                <a:solidFill>
                  <a:srgbClr val="FF0000"/>
                </a:solidFill>
              </a:rPr>
              <a:t>Main points</a:t>
            </a:r>
          </a:p>
          <a:p>
            <a:pPr marL="285750" indent="-285750">
              <a:buFont typeface="Arial" panose="020B0604020202020204" pitchFamily="34" charset="0"/>
              <a:buChar char="•"/>
            </a:pPr>
            <a:r>
              <a:rPr lang="en-US" sz="1600" dirty="0"/>
              <a:t>They don’t like of integrated photonics with 2D materials</a:t>
            </a:r>
          </a:p>
          <a:p>
            <a:pPr marL="285750" indent="-285750">
              <a:buFont typeface="Arial" panose="020B0604020202020204" pitchFamily="34" charset="0"/>
              <a:buChar char="•"/>
            </a:pPr>
            <a:r>
              <a:rPr lang="en-US" sz="1600" dirty="0"/>
              <a:t>computing mechanism of transition from two-photon absorption to synergistic excited states absorption</a:t>
            </a:r>
          </a:p>
          <a:p>
            <a:pPr marL="285750" indent="-285750">
              <a:buFont typeface="Arial" panose="020B0604020202020204" pitchFamily="34" charset="0"/>
              <a:buChar char="•"/>
            </a:pPr>
            <a:r>
              <a:rPr lang="en-US" sz="1600" dirty="0"/>
              <a:t>Good refs. 1-13  about nonlinear optical response, especially 8-13 high harmonic gen.</a:t>
            </a:r>
          </a:p>
          <a:p>
            <a:pPr marL="285750" indent="-285750">
              <a:buFont typeface="Arial" panose="020B0604020202020204" pitchFamily="34" charset="0"/>
              <a:buChar char="•"/>
            </a:pPr>
            <a:r>
              <a:rPr lang="en-US" sz="1600" dirty="0"/>
              <a:t>Optical </a:t>
            </a:r>
            <a:r>
              <a:rPr lang="en-US" sz="1600" dirty="0" err="1"/>
              <a:t>neuromorph</a:t>
            </a:r>
            <a:r>
              <a:rPr lang="en-US" sz="1600" dirty="0"/>
              <a:t> comp. refs 16-21</a:t>
            </a:r>
          </a:p>
          <a:p>
            <a:pPr marL="285750" indent="-285750">
              <a:buFont typeface="Arial" panose="020B0604020202020204" pitchFamily="34" charset="0"/>
              <a:buChar char="•"/>
            </a:pPr>
            <a:r>
              <a:rPr lang="en-US" sz="1600" dirty="0"/>
              <a:t>spatial light modulators36 and meta-lenses37 have been demonstrated with purely patterned 2D materials</a:t>
            </a:r>
          </a:p>
          <a:p>
            <a:pPr marL="285750" indent="-285750">
              <a:buFont typeface="Arial" panose="020B0604020202020204" pitchFamily="34" charset="0"/>
              <a:buChar char="•"/>
            </a:pPr>
            <a:r>
              <a:rPr lang="en-US" sz="1600" dirty="0"/>
              <a:t>Schematic of optical ANN. The ΔT is a function of control power and control time delay. The control power in each cell is the input signal, and the control time delay is encoded into weight. The cell thicknesses are identical</a:t>
            </a:r>
          </a:p>
          <a:p>
            <a:pPr marL="285750" indent="-285750">
              <a:buFont typeface="Arial" panose="020B0604020202020204" pitchFamily="34" charset="0"/>
              <a:buChar char="•"/>
            </a:pPr>
            <a:r>
              <a:rPr lang="en-US" sz="1600" dirty="0"/>
              <a:t>A custom training dataset consisted of 3 × 3 patterns for letters H, U, S, and T, encoded by </a:t>
            </a:r>
            <a:r>
              <a:rPr lang="en-US" sz="1600" dirty="0" err="1"/>
              <a:t>PCtl</a:t>
            </a:r>
            <a:r>
              <a:rPr lang="en-US" sz="1600" dirty="0"/>
              <a:t> for each pixel</a:t>
            </a:r>
          </a:p>
          <a:p>
            <a:pPr marL="285750" indent="-285750">
              <a:buFont typeface="Arial" panose="020B0604020202020204" pitchFamily="34" charset="0"/>
              <a:buChar char="•"/>
            </a:pPr>
            <a:r>
              <a:rPr lang="en-US" sz="1600" dirty="0"/>
              <a:t>(Data noise) To evaluate the noise robustness, the Gaussian noise with a mean value of zero and standard deviation of 0.2 </a:t>
            </a:r>
            <a:r>
              <a:rPr lang="en-US" sz="1600" dirty="0" err="1"/>
              <a:t>mW</a:t>
            </a:r>
            <a:r>
              <a:rPr lang="en-US" sz="1600" dirty="0"/>
              <a:t> is included in the training dataset.</a:t>
            </a:r>
          </a:p>
          <a:p>
            <a:pPr marL="285750" indent="-285750">
              <a:buFont typeface="Arial" panose="020B0604020202020204" pitchFamily="34" charset="0"/>
              <a:buChar char="•"/>
            </a:pPr>
            <a:r>
              <a:rPr lang="en-US" sz="1600" dirty="0"/>
              <a:t>single layer ANN to classify</a:t>
            </a:r>
          </a:p>
          <a:p>
            <a:pPr marL="285750" indent="-285750">
              <a:buFont typeface="Arial" panose="020B0604020202020204" pitchFamily="34" charset="0"/>
              <a:buChar char="•"/>
            </a:pPr>
            <a:r>
              <a:rPr lang="en-US" sz="1600" dirty="0"/>
              <a:t>free-space optical neuromorphic computing concept</a:t>
            </a:r>
          </a:p>
          <a:p>
            <a:pPr marL="285750" indent="-285750">
              <a:buFont typeface="Arial" panose="020B0604020202020204" pitchFamily="34" charset="0"/>
              <a:buChar char="•"/>
            </a:pPr>
            <a:r>
              <a:rPr lang="en-US" sz="1600" dirty="0">
                <a:solidFill>
                  <a:srgbClr val="FF0000"/>
                </a:solidFill>
              </a:rPr>
              <a:t>Supplementary Table 1 | Consumption in different system</a:t>
            </a:r>
            <a:r>
              <a:rPr lang="en-US" sz="1600" dirty="0"/>
              <a:t>s</a:t>
            </a:r>
            <a:endParaRPr lang="ru-RU" sz="1600" dirty="0"/>
          </a:p>
          <a:p>
            <a:pPr marL="285750" indent="-285750">
              <a:buFont typeface="Arial" panose="020B0604020202020204" pitchFamily="34" charset="0"/>
              <a:buChar char="•"/>
            </a:pPr>
            <a:r>
              <a:rPr lang="en-US" sz="1600" dirty="0"/>
              <a:t>Set of good references</a:t>
            </a:r>
            <a:endParaRPr lang="LID4096" sz="1600" dirty="0"/>
          </a:p>
        </p:txBody>
      </p:sp>
    </p:spTree>
    <p:extLst>
      <p:ext uri="{BB962C8B-B14F-4D97-AF65-F5344CB8AC3E}">
        <p14:creationId xmlns:p14="http://schemas.microsoft.com/office/powerpoint/2010/main" val="18509540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4AF9B-969D-CFB3-207D-6B97EFC5750F}"/>
              </a:ext>
            </a:extLst>
          </p:cNvPr>
          <p:cNvSpPr>
            <a:spLocks noGrp="1"/>
          </p:cNvSpPr>
          <p:nvPr>
            <p:ph type="title"/>
          </p:nvPr>
        </p:nvSpPr>
        <p:spPr/>
        <p:txBody>
          <a:bodyPr/>
          <a:lstStyle/>
          <a:p>
            <a:r>
              <a:rPr lang="en-US" dirty="0"/>
              <a:t>The same paper – table of energies</a:t>
            </a:r>
            <a:endParaRPr lang="LID4096" dirty="0"/>
          </a:p>
        </p:txBody>
      </p:sp>
      <p:pic>
        <p:nvPicPr>
          <p:cNvPr id="4" name="Picture 3">
            <a:extLst>
              <a:ext uri="{FF2B5EF4-FFF2-40B4-BE49-F238E27FC236}">
                <a16:creationId xmlns:a16="http://schemas.microsoft.com/office/drawing/2014/main" id="{1AD5B08E-56DA-4FA2-EB2C-F796826310E8}"/>
              </a:ext>
            </a:extLst>
          </p:cNvPr>
          <p:cNvPicPr>
            <a:picLocks noChangeAspect="1"/>
          </p:cNvPicPr>
          <p:nvPr/>
        </p:nvPicPr>
        <p:blipFill>
          <a:blip r:embed="rId2"/>
          <a:stretch>
            <a:fillRect/>
          </a:stretch>
        </p:blipFill>
        <p:spPr>
          <a:xfrm>
            <a:off x="3543240" y="1375001"/>
            <a:ext cx="3468865" cy="5028605"/>
          </a:xfrm>
          <a:prstGeom prst="rect">
            <a:avLst/>
          </a:prstGeom>
        </p:spPr>
      </p:pic>
    </p:spTree>
    <p:extLst>
      <p:ext uri="{BB962C8B-B14F-4D97-AF65-F5344CB8AC3E}">
        <p14:creationId xmlns:p14="http://schemas.microsoft.com/office/powerpoint/2010/main" val="1813243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369D6-6C22-3B6C-6AEE-C8170FAD22E0}"/>
              </a:ext>
            </a:extLst>
          </p:cNvPr>
          <p:cNvSpPr>
            <a:spLocks noGrp="1"/>
          </p:cNvSpPr>
          <p:nvPr>
            <p:ph type="title"/>
          </p:nvPr>
        </p:nvSpPr>
        <p:spPr/>
        <p:txBody>
          <a:bodyPr/>
          <a:lstStyle/>
          <a:p>
            <a:endParaRPr lang="LID4096"/>
          </a:p>
        </p:txBody>
      </p:sp>
    </p:spTree>
    <p:extLst>
      <p:ext uri="{BB962C8B-B14F-4D97-AF65-F5344CB8AC3E}">
        <p14:creationId xmlns:p14="http://schemas.microsoft.com/office/powerpoint/2010/main" val="78805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FAAF9-6B60-2472-A82F-D50254EE97CB}"/>
              </a:ext>
            </a:extLst>
          </p:cNvPr>
          <p:cNvSpPr>
            <a:spLocks noGrp="1"/>
          </p:cNvSpPr>
          <p:nvPr>
            <p:ph type="title"/>
          </p:nvPr>
        </p:nvSpPr>
        <p:spPr/>
        <p:txBody>
          <a:bodyPr/>
          <a:lstStyle/>
          <a:p>
            <a:r>
              <a:rPr lang="en-US" dirty="0"/>
              <a:t>Notes for our purposes</a:t>
            </a:r>
            <a:endParaRPr lang="LID4096" dirty="0"/>
          </a:p>
        </p:txBody>
      </p:sp>
      <p:sp>
        <p:nvSpPr>
          <p:cNvPr id="3" name="Text Placeholder 2">
            <a:extLst>
              <a:ext uri="{FF2B5EF4-FFF2-40B4-BE49-F238E27FC236}">
                <a16:creationId xmlns:a16="http://schemas.microsoft.com/office/drawing/2014/main" id="{6150C173-BBEE-9E14-4AD5-7FD2113D6773}"/>
              </a:ext>
            </a:extLst>
          </p:cNvPr>
          <p:cNvSpPr>
            <a:spLocks noGrp="1"/>
          </p:cNvSpPr>
          <p:nvPr>
            <p:ph type="body" idx="1"/>
          </p:nvPr>
        </p:nvSpPr>
        <p:spPr/>
        <p:txBody>
          <a:bodyPr/>
          <a:lstStyle/>
          <a:p>
            <a:endParaRPr lang="LID4096"/>
          </a:p>
        </p:txBody>
      </p:sp>
    </p:spTree>
    <p:extLst>
      <p:ext uri="{BB962C8B-B14F-4D97-AF65-F5344CB8AC3E}">
        <p14:creationId xmlns:p14="http://schemas.microsoft.com/office/powerpoint/2010/main" val="2903534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42501-2EE3-3521-7656-DE5A3C573A1D}"/>
              </a:ext>
            </a:extLst>
          </p:cNvPr>
          <p:cNvSpPr>
            <a:spLocks noGrp="1"/>
          </p:cNvSpPr>
          <p:nvPr>
            <p:ph type="title"/>
          </p:nvPr>
        </p:nvSpPr>
        <p:spPr>
          <a:xfrm>
            <a:off x="838200" y="365125"/>
            <a:ext cx="10515600" cy="854075"/>
          </a:xfrm>
        </p:spPr>
        <p:txBody>
          <a:bodyPr/>
          <a:lstStyle/>
          <a:p>
            <a:r>
              <a:rPr lang="en-US" dirty="0"/>
              <a:t>Main comparison</a:t>
            </a:r>
            <a:endParaRPr lang="LID4096" dirty="0"/>
          </a:p>
        </p:txBody>
      </p:sp>
      <p:sp>
        <p:nvSpPr>
          <p:cNvPr id="3" name="TextBox 2">
            <a:extLst>
              <a:ext uri="{FF2B5EF4-FFF2-40B4-BE49-F238E27FC236}">
                <a16:creationId xmlns:a16="http://schemas.microsoft.com/office/drawing/2014/main" id="{F1D79339-BEA5-9311-7761-68FC94BD2F58}"/>
              </a:ext>
            </a:extLst>
          </p:cNvPr>
          <p:cNvSpPr txBox="1"/>
          <p:nvPr/>
        </p:nvSpPr>
        <p:spPr>
          <a:xfrm>
            <a:off x="587829" y="1360714"/>
            <a:ext cx="6516399" cy="646331"/>
          </a:xfrm>
          <a:prstGeom prst="rect">
            <a:avLst/>
          </a:prstGeom>
          <a:noFill/>
        </p:spPr>
        <p:txBody>
          <a:bodyPr wrap="none" rtlCol="0">
            <a:spAutoFit/>
          </a:bodyPr>
          <a:lstStyle/>
          <a:p>
            <a:pPr marL="285750" indent="-285750">
              <a:buFont typeface="Arial" panose="020B0604020202020204" pitchFamily="34" charset="0"/>
              <a:buChar char="•"/>
            </a:pPr>
            <a:r>
              <a:rPr lang="en-US" dirty="0"/>
              <a:t>Our quantum geometric features are really new (at least now)</a:t>
            </a:r>
          </a:p>
          <a:p>
            <a:pPr marL="285750" indent="-285750">
              <a:buFont typeface="Arial" panose="020B0604020202020204" pitchFamily="34" charset="0"/>
              <a:buChar char="•"/>
            </a:pPr>
            <a:endParaRPr lang="LID4096" dirty="0"/>
          </a:p>
        </p:txBody>
      </p:sp>
    </p:spTree>
    <p:extLst>
      <p:ext uri="{BB962C8B-B14F-4D97-AF65-F5344CB8AC3E}">
        <p14:creationId xmlns:p14="http://schemas.microsoft.com/office/powerpoint/2010/main" val="18785430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379</TotalTime>
  <Words>334</Words>
  <Application>Microsoft Office PowerPoint</Application>
  <PresentationFormat>Widescreen</PresentationFormat>
  <Paragraphs>29</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Notes on literature for neuromorphic graphene device project</vt:lpstr>
      <vt:lpstr>2020</vt:lpstr>
      <vt:lpstr>Ultrafast machine vision with 2D material neural network image sensors  https://doi.org/10.1038/s41586-020-2038-x</vt:lpstr>
      <vt:lpstr>2022</vt:lpstr>
      <vt:lpstr>Gate-tunable quantum pathways of high harmonic generation in graphene - 10.1038/s41467-022-34337-y </vt:lpstr>
      <vt:lpstr>2024</vt:lpstr>
      <vt:lpstr> Programmable nonlinear optical neuromorphic computing with bare 2D material MoS2 https://doi.org/10.1038/s41467-024-54776-z</vt:lpstr>
      <vt:lpstr>The same paper – table of energies</vt:lpstr>
      <vt:lpstr>PowerPoint Presentation</vt:lpstr>
      <vt:lpstr>Notes for our purposes</vt:lpstr>
      <vt:lpstr>Main comparison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Dmitry Oriekhov</dc:creator>
  <cp:lastModifiedBy>Dmitry Oriekhov</cp:lastModifiedBy>
  <cp:revision>22</cp:revision>
  <dcterms:created xsi:type="dcterms:W3CDTF">2026-04-20T15:59:07Z</dcterms:created>
  <dcterms:modified xsi:type="dcterms:W3CDTF">2026-04-21T07:25:00Z</dcterms:modified>
</cp:coreProperties>
</file>